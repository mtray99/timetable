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4384000" cy="13716000"/>
  <p:notesSz cx="6858000" cy="9144000"/>
  <p:embeddedFontLst>
    <p:embeddedFont>
      <p:font typeface="Cafe24 Dangdanghae" panose="020B0600000101010101" charset="-127"/>
      <p:regular r:id="rId10"/>
    </p:embeddedFont>
    <p:embeddedFont>
      <p:font typeface="Pretendard Bold" panose="020B0600000101010101" charset="-127"/>
      <p:bold r:id="rId11"/>
    </p:embeddedFont>
    <p:embeddedFont>
      <p:font typeface="Pretendard Regular" panose="020B0600000101010101" charset="-127"/>
      <p:regular r:id="rId12"/>
    </p:embeddedFont>
    <p:embeddedFont>
      <p:font typeface="SB AggroOTF Light" panose="020B0600000101010101" charset="-127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387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0.png"/><Relationship Id="rId2" Type="http://schemas.openxmlformats.org/officeDocument/2006/relationships/image" Target="../media/image18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31.png"/><Relationship Id="rId7" Type="http://schemas.openxmlformats.org/officeDocument/2006/relationships/image" Target="../media/image5.png"/><Relationship Id="rId12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35.png"/><Relationship Id="rId5" Type="http://schemas.openxmlformats.org/officeDocument/2006/relationships/image" Target="../media/image15.png"/><Relationship Id="rId10" Type="http://schemas.openxmlformats.org/officeDocument/2006/relationships/image" Target="../media/image34.png"/><Relationship Id="rId4" Type="http://schemas.openxmlformats.org/officeDocument/2006/relationships/image" Target="../media/image9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2.png"/><Relationship Id="rId7" Type="http://schemas.openxmlformats.org/officeDocument/2006/relationships/image" Target="../media/image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10" Type="http://schemas.openxmlformats.org/officeDocument/2006/relationships/image" Target="../media/image45.png"/><Relationship Id="rId4" Type="http://schemas.openxmlformats.org/officeDocument/2006/relationships/image" Target="../media/image3.png"/><Relationship Id="rId9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6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8503900" y="40132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849100" y="10414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753100" y="-4826000"/>
            <a:ext cx="11988800" cy="22364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219200"/>
            <a:ext cx="20993100" cy="632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61400" y="16256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90000" y="16256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05900" y="16256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999700" y="12344400"/>
            <a:ext cx="609600" cy="203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727200" y="10985500"/>
            <a:ext cx="6553200" cy="914400"/>
          </a:xfrm>
          <a:prstGeom prst="rect">
            <a:avLst/>
          </a:prstGeom>
        </p:spPr>
        <p:txBody>
          <a:bodyPr lIns="0" tIns="0" rIns="0" bIns="35560" rtlCol="0" anchor="b"/>
          <a:lstStyle/>
          <a:p>
            <a:pPr lvl="0" algn="l">
              <a:lnSpc>
                <a:spcPct val="99600"/>
              </a:lnSpc>
            </a:pPr>
            <a:r>
              <a:rPr lang="en-US" sz="5129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유지호, 전태민, 최진우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63700" y="8102600"/>
            <a:ext cx="20739100" cy="787400"/>
          </a:xfrm>
          <a:prstGeom prst="rect">
            <a:avLst/>
          </a:prstGeom>
        </p:spPr>
        <p:txBody>
          <a:bodyPr lIns="0" tIns="55880" rIns="0" bIns="55880" rtlCol="0" anchor="ctr"/>
          <a:lstStyle/>
          <a:p>
            <a:pPr lvl="0" algn="l">
              <a:lnSpc>
                <a:spcPct val="99600"/>
              </a:lnSpc>
            </a:pPr>
            <a:r>
              <a:rPr lang="en-US" sz="4400" b="0" i="0" u="none" strike="noStrike">
                <a:solidFill>
                  <a:srgbClr val="98AFD1"/>
                </a:solidFill>
                <a:latin typeface="Cafe24 Dangdanghae"/>
                <a:ea typeface="Cafe24 Dangdanghae"/>
                <a:cs typeface="Cafe24 Dangdanghae"/>
              </a:rPr>
              <a:t>사용자 맞춤형 최적 시간표 자동 추천 시스템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7200" y="2273300"/>
            <a:ext cx="19621500" cy="3911600"/>
          </a:xfrm>
          <a:prstGeom prst="rect">
            <a:avLst/>
          </a:prstGeom>
        </p:spPr>
        <p:txBody>
          <a:bodyPr lIns="0" tIns="248920" rIns="0" bIns="0" rtlCol="0" anchor="t"/>
          <a:lstStyle/>
          <a:p>
            <a:pPr lvl="0" algn="l">
              <a:lnSpc>
                <a:spcPct val="91299"/>
              </a:lnSpc>
            </a:pPr>
            <a:r>
              <a:rPr lang="en-US" sz="130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SSU 시간표 생성기 프로젝트</a:t>
            </a:r>
          </a:p>
          <a:p>
            <a:pPr lvl="0" algn="l">
              <a:lnSpc>
                <a:spcPct val="91299"/>
              </a:lnSpc>
            </a:pPr>
            <a:r>
              <a:rPr lang="en-US" sz="11600" b="0" i="0" u="none" strike="noStrike">
                <a:solidFill>
                  <a:srgbClr val="5D6DBE"/>
                </a:solidFill>
                <a:latin typeface="Cafe24 Dangdanghae"/>
                <a:ea typeface="Cafe24 Dangdanghae"/>
                <a:cs typeface="Cafe24 Dangdanghae"/>
              </a:rPr>
              <a:t>최종 발표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9513D2-98DA-67AA-AE7D-02E9F752AB99}"/>
              </a:ext>
            </a:extLst>
          </p:cNvPr>
          <p:cNvSpPr txBox="1"/>
          <p:nvPr/>
        </p:nvSpPr>
        <p:spPr>
          <a:xfrm>
            <a:off x="17633950" y="11698585"/>
            <a:ext cx="791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https://github.com/mtray99/timetable</a:t>
            </a:r>
            <a:endParaRPr lang="ko-KR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61400" y="1625600"/>
            <a:ext cx="152400" cy="152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90000" y="16256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05900" y="16256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999700" y="12344400"/>
            <a:ext cx="609600" cy="203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9400" y="3009900"/>
            <a:ext cx="203073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8400" y="4267200"/>
            <a:ext cx="1409700" cy="25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013200" y="3987800"/>
            <a:ext cx="6680200" cy="5461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프로젝트 소개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2900" y="3937000"/>
            <a:ext cx="825500" cy="635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498600" y="4038600"/>
            <a:ext cx="10668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Cafe24 Dangdanghae"/>
                <a:ea typeface="Cafe24 Dangdanghae"/>
                <a:cs typeface="Cafe24 Dangdanghae"/>
              </a:rPr>
              <a:t>01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8400" y="7277100"/>
            <a:ext cx="14097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4013200" y="6997700"/>
            <a:ext cx="6680200" cy="5461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프로그램 주요 작동 원리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2900" y="6934200"/>
            <a:ext cx="825500" cy="635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98600" y="7035800"/>
            <a:ext cx="10668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Cafe24 Dangdanghae"/>
                <a:ea typeface="Cafe24 Dangdanghae"/>
                <a:cs typeface="Cafe24 Dangdanghae"/>
              </a:rPr>
              <a:t>02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8400" y="10274300"/>
            <a:ext cx="14097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013200" y="10007600"/>
            <a:ext cx="6680200" cy="5461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추가 및 보완된 기능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2900" y="9944100"/>
            <a:ext cx="825500" cy="635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498600" y="10045700"/>
            <a:ext cx="10668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Cafe24 Dangdanghae"/>
                <a:ea typeface="Cafe24 Dangdanghae"/>
                <a:cs typeface="Cafe24 Dangdanghae"/>
              </a:rPr>
              <a:t>03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87400" y="4267200"/>
            <a:ext cx="1409700" cy="254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5074900" y="3987800"/>
            <a:ext cx="6680200" cy="5461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결과물 시연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61900" y="3937000"/>
            <a:ext cx="825500" cy="635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2560300" y="4038600"/>
            <a:ext cx="10668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Cafe24 Dangdanghae"/>
                <a:ea typeface="Cafe24 Dangdanghae"/>
                <a:cs typeface="Cafe24 Dangdanghae"/>
              </a:rPr>
              <a:t>04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87400" y="7277100"/>
            <a:ext cx="1409700" cy="254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5074900" y="6997700"/>
            <a:ext cx="6680200" cy="5461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프로젝트 한계점 및 향후 기대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61900" y="6934200"/>
            <a:ext cx="825500" cy="6350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2560300" y="7035800"/>
            <a:ext cx="10668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Cafe24 Dangdanghae"/>
                <a:ea typeface="Cafe24 Dangdanghae"/>
                <a:cs typeface="Cafe24 Dangdanghae"/>
              </a:rPr>
              <a:t>05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87400" y="10274300"/>
            <a:ext cx="1409700" cy="254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5074900" y="10007600"/>
            <a:ext cx="6680200" cy="5461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3066" b="1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Q &amp; A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61900" y="9944100"/>
            <a:ext cx="825500" cy="6350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12560300" y="10045700"/>
            <a:ext cx="10668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Cafe24 Dangdanghae"/>
                <a:ea typeface="Cafe24 Dangdanghae"/>
                <a:cs typeface="Cafe24 Dangdanghae"/>
              </a:rPr>
              <a:t>06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49400" y="1320800"/>
            <a:ext cx="195072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l">
              <a:lnSpc>
                <a:spcPct val="99600"/>
              </a:lnSpc>
            </a:pPr>
            <a:r>
              <a:rPr lang="en-US" sz="8000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999700" y="12344400"/>
            <a:ext cx="609600" cy="203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403600" y="9499600"/>
            <a:ext cx="64643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수강신청 시 시간표 조합의 복잡성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효율적 해결 방안 모색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최적의 조합 탐색 어려움 해소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4400" y="4889500"/>
            <a:ext cx="6350000" cy="2933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403600" y="8521700"/>
            <a:ext cx="64643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199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복잡한 시간표 짜기 과정 효율화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61400" y="1625600"/>
            <a:ext cx="152400" cy="152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90000" y="1625600"/>
            <a:ext cx="152400" cy="152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05900" y="1625600"/>
            <a:ext cx="152400" cy="152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790700" y="1892300"/>
            <a:ext cx="19494500" cy="11811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프로젝트 소개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34900" y="9626600"/>
            <a:ext cx="64643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개인별 맞춤 조건 적용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다양한 사용자 니즈 충족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85700" y="4889500"/>
            <a:ext cx="6350000" cy="2933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522200" y="8521700"/>
            <a:ext cx="64643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199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사용자 조건 맞춤 최적 조합 추천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999700" y="12344400"/>
            <a:ext cx="609600" cy="203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11658600" y="5016500"/>
            <a:ext cx="279400" cy="50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3400" y="3848100"/>
            <a:ext cx="2806700" cy="2806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9300" y="4064000"/>
            <a:ext cx="2374900" cy="237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57200" y="3848100"/>
            <a:ext cx="2806700" cy="2806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73100" y="4064000"/>
            <a:ext cx="2374900" cy="2374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834100" y="3848100"/>
            <a:ext cx="2806700" cy="2806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50000" y="4064000"/>
            <a:ext cx="2374900" cy="2374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80300" y="3848100"/>
            <a:ext cx="2806700" cy="2806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96200" y="4064000"/>
            <a:ext cx="2374900" cy="2374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361400" y="1625600"/>
            <a:ext cx="152400" cy="152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590000" y="1625600"/>
            <a:ext cx="152400" cy="152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805900" y="1625600"/>
            <a:ext cx="152400" cy="152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>
            <a:alphaModFix amt="50000"/>
          </a:blip>
          <a:stretch>
            <a:fillRect/>
          </a:stretch>
        </p:blipFill>
        <p:spPr>
          <a:xfrm>
            <a:off x="17526000" y="5016500"/>
            <a:ext cx="279400" cy="508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5778500" y="5016500"/>
            <a:ext cx="279400" cy="508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863600" y="8305800"/>
            <a:ext cx="4673600" cy="262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학년, 학기 선택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전공·교양 DB 조회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수강 희망 과목 선택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희망 조건 선택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-입력에 따른 데이터 매칭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3600" y="6921500"/>
            <a:ext cx="4686300" cy="1193800"/>
          </a:xfrm>
          <a:prstGeom prst="rect">
            <a:avLst/>
          </a:prstGeom>
        </p:spPr>
        <p:txBody>
          <a:bodyPr lIns="0" tIns="0" rIns="0" bIns="22013" rtlCol="0" anchor="b"/>
          <a:lstStyle/>
          <a:p>
            <a:pPr lvl="0" algn="ctr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1단계: 사용자 입력 및 </a:t>
            </a:r>
          </a:p>
          <a:p>
            <a:pPr lvl="0" algn="ctr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데이터 매칭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53200" y="8305800"/>
            <a:ext cx="4660900" cy="262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시간대 겹침 확인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물리적 불가능 조합 제거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- 1차 필터링 수행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유효한 조합만 선별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연산 효율성 향상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40500" y="7493000"/>
            <a:ext cx="4686300" cy="622300"/>
          </a:xfrm>
          <a:prstGeom prst="rect">
            <a:avLst/>
          </a:prstGeom>
        </p:spPr>
        <p:txBody>
          <a:bodyPr lIns="0" tIns="0" rIns="0" bIns="22013" rtlCol="0" anchor="b"/>
          <a:lstStyle/>
          <a:p>
            <a:pPr lvl="0" algn="ctr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2단계: 시간 겹침 필터링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230100" y="8305800"/>
            <a:ext cx="4660900" cy="262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공강일 수 계산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아침 수업 패널티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기피 교수 반영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종합 점수 산출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우선순위 결정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17400" y="6921500"/>
            <a:ext cx="4686300" cy="1193800"/>
          </a:xfrm>
          <a:prstGeom prst="rect">
            <a:avLst/>
          </a:prstGeom>
        </p:spPr>
        <p:txBody>
          <a:bodyPr lIns="0" tIns="0" rIns="0" bIns="22013" rtlCol="0" anchor="b"/>
          <a:lstStyle/>
          <a:p>
            <a:pPr lvl="0" algn="ctr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3단계: 다중 조건 </a:t>
            </a:r>
          </a:p>
          <a:p>
            <a:pPr lvl="0" algn="ctr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스코어링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907000" y="8305800"/>
            <a:ext cx="4660900" cy="262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상위 5개 선별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컨셉 라벨 부여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사용자에게 제시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비교 가능하도록 구성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최적 선택 지원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894300" y="6921500"/>
            <a:ext cx="4686300" cy="1193800"/>
          </a:xfrm>
          <a:prstGeom prst="rect">
            <a:avLst/>
          </a:prstGeom>
        </p:spPr>
        <p:txBody>
          <a:bodyPr lIns="0" tIns="0" rIns="0" bIns="22013" rtlCol="0" anchor="b"/>
          <a:lstStyle/>
          <a:p>
            <a:pPr lvl="0" algn="ctr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4단계: 최종 추천 및 </a:t>
            </a:r>
          </a:p>
          <a:p>
            <a:pPr lvl="0" algn="ctr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라벨링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프로그램 주요 작동 원리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추가된 핵심 기능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999700" y="12344400"/>
            <a:ext cx="609600" cy="203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61400" y="16256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90000" y="1625600"/>
            <a:ext cx="152400" cy="152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05900" y="1625600"/>
            <a:ext cx="152400" cy="152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3911600"/>
            <a:ext cx="57785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" y="8013700"/>
            <a:ext cx="57785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19200" y="5499100"/>
            <a:ext cx="5892800" cy="209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전공 위주에서 교양 확장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실제 수강신청 환경 구현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데이터베이스 대폭 확대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다양한 과목 조합 가능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1900" y="4483100"/>
            <a:ext cx="5905500" cy="622300"/>
          </a:xfrm>
          <a:prstGeom prst="rect">
            <a:avLst/>
          </a:prstGeom>
        </p:spPr>
        <p:txBody>
          <a:bodyPr lIns="0" tIns="0" rIns="0" bIns="22013" rtlCol="0" anchor="b"/>
          <a:lstStyle/>
          <a:p>
            <a:pPr lvl="0" algn="l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교양수업 데이터 전면 추가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33800" y="3911600"/>
            <a:ext cx="57785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33800" y="8039100"/>
            <a:ext cx="5778500" cy="25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6433800" y="5499100"/>
            <a:ext cx="5905500" cy="209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강의실 위치 좌표 기반 계산 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    (OSM데이터)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연강 시 동선 효율성 평가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이동 거리 짧을수록 가산점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433800" y="4483100"/>
            <a:ext cx="5905500" cy="622300"/>
          </a:xfrm>
          <a:prstGeom prst="rect">
            <a:avLst/>
          </a:prstGeom>
        </p:spPr>
        <p:txBody>
          <a:bodyPr lIns="0" tIns="0" rIns="0" bIns="22013" rtlCol="0" anchor="b"/>
          <a:lstStyle/>
          <a:p>
            <a:pPr lvl="0" algn="l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건물 간 이동 거리 고려 알고리즘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" y="12204700"/>
            <a:ext cx="5778500" cy="254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231900" y="9664700"/>
            <a:ext cx="5892800" cy="209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'여유 충분', '오전 없음' 등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직관적 뱃지 형태 표시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시간표 특징 한눈에 파악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비교 선택 용이성 향상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1900" y="8547100"/>
            <a:ext cx="5905500" cy="622300"/>
          </a:xfrm>
          <a:prstGeom prst="rect">
            <a:avLst/>
          </a:prstGeom>
        </p:spPr>
        <p:txBody>
          <a:bodyPr lIns="0" tIns="0" rIns="0" bIns="22013" rtlCol="0" anchor="b"/>
          <a:lstStyle/>
          <a:p>
            <a:pPr lvl="0" algn="l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시간표 추천 이유 및 컨셉 뱃지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33800" y="12204700"/>
            <a:ext cx="5778500" cy="254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6433800" y="9664700"/>
            <a:ext cx="5892800" cy="209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클립보드 복사 기능 제공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친구와 공유 편리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개인 메모장 저장 가능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사용자 편의성 증대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433800" y="8610600"/>
            <a:ext cx="5905500" cy="622300"/>
          </a:xfrm>
          <a:prstGeom prst="rect">
            <a:avLst/>
          </a:prstGeom>
        </p:spPr>
        <p:txBody>
          <a:bodyPr lIns="0" tIns="0" rIns="0" bIns="22013" rtlCol="0" anchor="b"/>
          <a:lstStyle/>
          <a:p>
            <a:pPr lvl="0" algn="l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텍스트 형태 시간표 복사 기능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56800" y="10172700"/>
            <a:ext cx="5753100" cy="2032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04100" y="3848100"/>
            <a:ext cx="5753100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결과물 시연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999700" y="12344400"/>
            <a:ext cx="609600" cy="203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61400" y="16256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90000" y="1625600"/>
            <a:ext cx="152400" cy="152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05900" y="1625600"/>
            <a:ext cx="152400" cy="152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4013200"/>
            <a:ext cx="12115800" cy="8432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3500100" y="6146800"/>
            <a:ext cx="96520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207" b="0" i="0" u="sng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https://timetable-ai-2suo.onrender.com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999700" y="12344400"/>
            <a:ext cx="609600" cy="203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1333500"/>
            <a:ext cx="20993100" cy="2298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61400" y="16256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90000" y="16256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05900" y="1625600"/>
            <a:ext cx="152400" cy="152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alphaModFix amt="60000"/>
          </a:blip>
          <a:stretch>
            <a:fillRect/>
          </a:stretch>
        </p:blipFill>
        <p:spPr>
          <a:xfrm>
            <a:off x="10782300" y="6997700"/>
            <a:ext cx="1968500" cy="1968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010900" y="7416800"/>
            <a:ext cx="749300" cy="406400"/>
          </a:xfrm>
          <a:prstGeom prst="rect">
            <a:avLst/>
          </a:prstGeom>
        </p:spPr>
        <p:txBody>
          <a:bodyPr lIns="0" tIns="14393" rIns="0" bIns="14393" rtlCol="0" anchor="ctr"/>
          <a:lstStyle/>
          <a:p>
            <a:pPr lvl="0" algn="ctr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SB AggroOTF Light"/>
                <a:ea typeface="SB AggroOTF Light"/>
                <a:cs typeface="SB AggroOTF Light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85600" y="7416800"/>
            <a:ext cx="749300" cy="406400"/>
          </a:xfrm>
          <a:prstGeom prst="rect">
            <a:avLst/>
          </a:prstGeom>
        </p:spPr>
        <p:txBody>
          <a:bodyPr lIns="0" tIns="14393" rIns="0" bIns="14393" rtlCol="0" anchor="ctr"/>
          <a:lstStyle/>
          <a:p>
            <a:pPr lvl="0" algn="ctr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SB AggroOTF Light"/>
                <a:ea typeface="SB AggroOTF Light"/>
                <a:cs typeface="SB AggroOTF Light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10900" y="8166100"/>
            <a:ext cx="749300" cy="406400"/>
          </a:xfrm>
          <a:prstGeom prst="rect">
            <a:avLst/>
          </a:prstGeom>
        </p:spPr>
        <p:txBody>
          <a:bodyPr lIns="0" tIns="14393" rIns="0" bIns="14393" rtlCol="0" anchor="ctr"/>
          <a:lstStyle/>
          <a:p>
            <a:pPr lvl="0" algn="ctr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SB AggroOTF Light"/>
                <a:ea typeface="SB AggroOTF Light"/>
                <a:cs typeface="SB AggroOTF Light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85600" y="8166100"/>
            <a:ext cx="749300" cy="406400"/>
          </a:xfrm>
          <a:prstGeom prst="rect">
            <a:avLst/>
          </a:prstGeom>
        </p:spPr>
        <p:txBody>
          <a:bodyPr lIns="0" tIns="14393" rIns="0" bIns="14393" rtlCol="0" anchor="ctr"/>
          <a:lstStyle/>
          <a:p>
            <a:pPr lvl="0" algn="ctr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SB AggroOTF Light"/>
                <a:ea typeface="SB AggroOTF Light"/>
                <a:cs typeface="SB AggroOTF Light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79600" y="5283200"/>
            <a:ext cx="9017000" cy="209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초기 기획: 숭실대 전체 학과 대상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현재 배포: 전자정보공학부 학생 한정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방대한 데이터 수집의 시간적 제약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모든 경우의 수 계산 부담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9600" y="7988300"/>
            <a:ext cx="196977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367933">
            <a:off x="7797800" y="7975600"/>
            <a:ext cx="7835900" cy="25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866900" y="4495800"/>
            <a:ext cx="90551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l">
              <a:lnSpc>
                <a:spcPct val="107899"/>
              </a:lnSpc>
            </a:pPr>
            <a:r>
              <a:rPr lang="en-US" sz="3199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서비스 대상 한정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79600" y="9702800"/>
            <a:ext cx="9017000" cy="209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추천 알고리즘 안정적 완성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웹 UI 뼈대 구축 완료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타 학과 데이터 추가 구축 가능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확장 가능한 시스템 구조 확보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79600" y="8928100"/>
            <a:ext cx="90297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l">
              <a:lnSpc>
                <a:spcPct val="107899"/>
              </a:lnSpc>
            </a:pPr>
            <a:r>
              <a:rPr lang="en-US" sz="3199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데이터 확장 가능성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47600" y="5283200"/>
            <a:ext cx="9017000" cy="209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대규모 데이터 처리 시 속도 저하</a:t>
            </a:r>
          </a:p>
          <a:p>
            <a:pPr lvl="0" algn="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복잡한 조합 연산의 한계</a:t>
            </a:r>
          </a:p>
          <a:p>
            <a:pPr lvl="0" algn="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실시간 매칭 처리 최적화 필요</a:t>
            </a:r>
          </a:p>
          <a:p>
            <a:pPr lvl="0" algn="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서버 환경 개선 요구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34900" y="4495800"/>
            <a:ext cx="90297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r">
              <a:lnSpc>
                <a:spcPct val="107899"/>
              </a:lnSpc>
            </a:pPr>
            <a:r>
              <a:rPr lang="en-US" sz="3199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서버 처리 속도 제약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47600" y="9702800"/>
            <a:ext cx="9017000" cy="209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타 학과 및 학부 데이터 추가 가능</a:t>
            </a:r>
          </a:p>
          <a:p>
            <a:pPr lvl="0" algn="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서버 환경 개선 및 최적화</a:t>
            </a:r>
          </a:p>
          <a:p>
            <a:pPr lvl="0" algn="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숭실대 전체 학생 대상 서비스 확장</a:t>
            </a:r>
          </a:p>
          <a:p>
            <a:pPr lvl="0" algn="r">
              <a:lnSpc>
                <a:spcPct val="124499"/>
              </a:lnSpc>
            </a:pPr>
            <a:r>
              <a:rPr lang="en-US" sz="28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 범용적 시간표 생성 플랫폼 기대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534900" y="8928100"/>
            <a:ext cx="90297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r">
              <a:lnSpc>
                <a:spcPct val="107899"/>
              </a:lnSpc>
            </a:pPr>
            <a:r>
              <a:rPr lang="en-US" sz="3199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향후 발전 방향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52600" y="1892300"/>
            <a:ext cx="19494500" cy="11811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657EA7"/>
                </a:solidFill>
                <a:latin typeface="Cafe24 Dangdanghae"/>
                <a:ea typeface="Cafe24 Dangdanghae"/>
                <a:cs typeface="Cafe24 Dangdanghae"/>
              </a:rPr>
              <a:t>프로젝트 한계점 및 향후 기대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8478500" y="4216400"/>
            <a:ext cx="7721600" cy="292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836400" y="1244600"/>
            <a:ext cx="6616700" cy="1732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727700" y="-4622800"/>
            <a:ext cx="11988800" cy="22364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999700" y="12344400"/>
            <a:ext cx="609600" cy="2032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 rot="5400000">
            <a:off x="21856700" y="3848100"/>
            <a:ext cx="2984500" cy="330200"/>
          </a:xfrm>
          <a:prstGeom prst="rect">
            <a:avLst/>
          </a:prstGeom>
        </p:spPr>
        <p:txBody>
          <a:bodyPr lIns="0" tIns="23707" rIns="0" bIns="23707" rtlCol="0" anchor="ctr"/>
          <a:lstStyle/>
          <a:p>
            <a:pPr lvl="0" algn="l">
              <a:lnSpc>
                <a:spcPct val="99600"/>
              </a:lnSpc>
            </a:pPr>
            <a:r>
              <a:rPr lang="en-US" sz="18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Profile Presentation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1333500"/>
            <a:ext cx="20993100" cy="1046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61400" y="16256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90000" y="1625600"/>
            <a:ext cx="152400" cy="152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05900" y="1625600"/>
            <a:ext cx="152400" cy="152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14500" y="5854700"/>
            <a:ext cx="195453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>
                <a:solidFill>
                  <a:srgbClr val="657EA7"/>
                </a:solidFill>
                <a:latin typeface="Pretendard Bold"/>
                <a:ea typeface="Pretendard Bold"/>
                <a:cs typeface="Pretendard Bold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457</Words>
  <Application>Microsoft Office PowerPoint</Application>
  <PresentationFormat>사용자 지정</PresentationFormat>
  <Paragraphs>104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Arial</vt:lpstr>
      <vt:lpstr>Cafe24 Dangdanghae</vt:lpstr>
      <vt:lpstr>Calibri</vt:lpstr>
      <vt:lpstr>Pretendard Bold</vt:lpstr>
      <vt:lpstr>Pretendard Regular</vt:lpstr>
      <vt:lpstr>SB AggroOTF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최진우</cp:lastModifiedBy>
  <cp:revision>2</cp:revision>
  <dcterms:created xsi:type="dcterms:W3CDTF">2006-08-16T00:00:00Z</dcterms:created>
  <dcterms:modified xsi:type="dcterms:W3CDTF">2026-06-15T12:14:57Z</dcterms:modified>
</cp:coreProperties>
</file>